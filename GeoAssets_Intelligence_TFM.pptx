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53200" y="0"/>
            <a:ext cx="3240000" cy="2700000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53200" y="0"/>
            <a:ext cx="180000" cy="2700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00000"/>
            <a:ext cx="12193200" cy="50793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916000"/>
            <a:ext cx="12193200" cy="25396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33200" y="180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1A48"/>
                </a:solidFill>
              </a:rPr>
              <a:t>MÁSTER EN INTELIGENCIA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33200" y="612000"/>
            <a:ext cx="27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1A48"/>
                </a:solidFill>
              </a:rPr>
              <a:t>Trabajo
de Fin
de Máster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720000"/>
            <a:ext cx="78731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GeoAssets
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015999"/>
            <a:ext cx="50400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232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B451"/>
                </a:solidFill>
              </a:rPr>
              <a:t>Localización automatizada del patrimonio
productivo empresarial mediante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3096000"/>
            <a:ext cx="2340000" cy="270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Google Maps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0000" y="3096000"/>
            <a:ext cx="2340000" cy="270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AWS Bedrock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0000" y="3096000"/>
            <a:ext cx="2340000" cy="2700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CrewAI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360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Alonso Salgueiro Castelo  ·  Tutor: —  ·  Mayo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000" y="6588000"/>
            <a:ext cx="90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</a:rPr>
              <a:t>GeoAssets Intelligence  ·  TFM Máster en Inteligencia Artificial  ·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2B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000" y="1152000"/>
            <a:ext cx="12193200" cy="25396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3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Índice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296000"/>
            <a:ext cx="5400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296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El problema: opacidad del patrimonio empresarial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1512000"/>
            <a:ext cx="79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B451"/>
                </a:solidFill>
              </a:rPr>
              <a:t>Slides 3–7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1854000"/>
            <a:ext cx="11113200" cy="10158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0000" y="1980000"/>
            <a:ext cx="5400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198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Solución: plataforma GeoAssets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2196000"/>
            <a:ext cx="79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B451"/>
                </a:solidFill>
              </a:rPr>
              <a:t>Slides 8–11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2538000"/>
            <a:ext cx="11113200" cy="10158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0000" y="2664000"/>
            <a:ext cx="5400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000" y="2664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Arquitectura técnica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000" y="2880000"/>
            <a:ext cx="79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B451"/>
                </a:solidFill>
              </a:rPr>
              <a:t>Slides 12–15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3222000"/>
            <a:ext cx="11113200" cy="10158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0000" y="3347999"/>
            <a:ext cx="5400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000" y="3347999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Pipelines de análisis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000" y="3563999"/>
            <a:ext cx="79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B451"/>
                </a:solidFill>
              </a:rPr>
              <a:t>Slides 16–22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3906000"/>
            <a:ext cx="11113200" cy="10158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0000" y="4031999"/>
            <a:ext cx="5400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000" y="4031999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Demostración y resultados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000" y="4248000"/>
            <a:ext cx="79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B451"/>
                </a:solidFill>
              </a:rPr>
              <a:t>Slides 23–26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4590000"/>
            <a:ext cx="11113200" cy="10158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0000" y="4716000"/>
            <a:ext cx="5400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000" y="4716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Benchmarking competitivo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000" y="4932000"/>
            <a:ext cx="79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B451"/>
                </a:solidFill>
              </a:rPr>
              <a:t>Slides 27–28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" y="5274000"/>
            <a:ext cx="11113200" cy="10158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0000" y="5399999"/>
            <a:ext cx="5400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000" y="5399999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Propuesta de valor y conclusiones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000" y="5615999"/>
            <a:ext cx="79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AB451"/>
                </a:solidFill>
              </a:rPr>
              <a:t>Slides 29–34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06000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544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2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AB451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140000"/>
            <a:ext cx="1111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B451"/>
                </a:solidFill>
              </a:rPr>
              <a:t>Opacidad del patrimonio productivo empresarial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3200" y="621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97D00"/>
                </a:solidFill>
              </a:rPr>
              <a:t>GeoAssets Intelligence · TFM 2025-2026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224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01  · 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Contexto: los activos productivos empresariales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Las empresas poseen activos distribuidos en múltiples localizaciones — conocerlos es clave para el análisis de riesgo, M&amp;A y ESG.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872000"/>
            <a:ext cx="2688300" cy="306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Banca &amp; Seguros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178000"/>
            <a:ext cx="2688300" cy="4212000"/>
          </a:xfrm>
          <a:prstGeom prst="rect">
            <a:avLst/>
          </a:prstGeom>
          <a:solidFill>
            <a:srgbClr val="F2F2F2"/>
          </a:solidFill>
          <a:ln w="635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Valoración de colaterales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Riesgo de concentración geográfica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Due diligence en M&amp;A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6299" y="1872000"/>
            <a:ext cx="2688300" cy="306000"/>
          </a:xfrm>
          <a:prstGeom prst="roundRect">
            <a:avLst>
              <a:gd name="adj" fmla="val 8000"/>
            </a:avLst>
          </a:prstGeom>
          <a:solidFill>
            <a:srgbClr val="002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Consultoría Estratégica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6299" y="2178000"/>
            <a:ext cx="2688300" cy="4212000"/>
          </a:xfrm>
          <a:prstGeom prst="rect">
            <a:avLst/>
          </a:prstGeom>
          <a:solidFill>
            <a:srgbClr val="F2F2F2"/>
          </a:solidFill>
          <a:ln w="6350">
            <a:solidFill>
              <a:srgbClr val="002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Mapa competitivo de activos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Inteligencia de mercado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Expansión geográfica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2599" y="1872000"/>
            <a:ext cx="2688300" cy="306000"/>
          </a:xfrm>
          <a:prstGeom prst="roundRect">
            <a:avLst>
              <a:gd name="adj" fmla="val 8000"/>
            </a:avLst>
          </a:prstGeom>
          <a:solidFill>
            <a:srgbClr val="2B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ESG / Sostenibilidad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2599" y="2178000"/>
            <a:ext cx="2688300" cy="4212000"/>
          </a:xfrm>
          <a:prstGeom prst="rect">
            <a:avLst/>
          </a:prstGeom>
          <a:solidFill>
            <a:srgbClr val="F2F2F2"/>
          </a:solidFill>
          <a:ln w="6350">
            <a:solidFill>
              <a:srgbClr val="2B3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Exposición ambiental industrial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Huella de carbono por activo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Reporte de sostenibilidad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8900" y="1872000"/>
            <a:ext cx="2688300" cy="306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Inversión &amp; Capital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8900" y="2178000"/>
            <a:ext cx="2688300" cy="4212000"/>
          </a:xfrm>
          <a:prstGeom prst="rect">
            <a:avLst/>
          </a:prstGeom>
          <a:solidFill>
            <a:srgbClr val="FBF9F3"/>
          </a:solidFill>
          <a:ln w="635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Valoración de carteras inmobiliarias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Screening de targets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Monitorización de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224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01  · 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El proceso actual: lento, manual y propenso a errores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Localizar todos los activos de una empresa grande requiere 2–4 horas de trabajo manual con cobertura parcial y sin trazabilidad del proceso.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2670300" cy="1260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BÚSQUEDA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Web, LinkedIn,
Registro Mercantil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28300" y="2376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6299" y="1908000"/>
            <a:ext cx="2670300" cy="1260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CONTRASTE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Cruzar fuentes:
BBDD, informes anuales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24600" y="2376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32599" y="1908000"/>
            <a:ext cx="2670300" cy="1260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GEOCODIFICACIÓN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Buscar coordenadas
para cada dirección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20900" y="2376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28900" y="1908000"/>
            <a:ext cx="2670300" cy="1260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VALIDACIÓN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Verificar si el activo
sigue activo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3348000"/>
            <a:ext cx="11113200" cy="25396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3456000"/>
            <a:ext cx="1111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7D00"/>
                </a:solidFill>
              </a:rPr>
              <a:t>⚠  Principales problemas del proceso manual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3743999"/>
            <a:ext cx="2670300" cy="1007999"/>
          </a:xfrm>
          <a:prstGeom prst="roundRect">
            <a:avLst>
              <a:gd name="adj" fmla="val 8000"/>
            </a:avLst>
          </a:prstGeom>
          <a:solidFill>
            <a:srgbClr val="FBF9F3"/>
          </a:solidFill>
          <a:ln w="1016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44336"/>
                </a:solidFill>
              </a:rPr>
              <a:t>Tiempo</a:t>
            </a:r>
          </a:p>
          <a:p>
            <a:pPr algn="ctr"/>
            <a:r>
              <a:rPr sz="950" b="0" i="0">
                <a:solidFill>
                  <a:srgbClr val="1A1A1A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1A1A1A"/>
                </a:solidFill>
              </a:rPr>
              <a:t>2–4 h por empresa para cobertura parcial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6299" y="3743999"/>
            <a:ext cx="2670300" cy="1007999"/>
          </a:xfrm>
          <a:prstGeom prst="roundRect">
            <a:avLst>
              <a:gd name="adj" fmla="val 8000"/>
            </a:avLst>
          </a:prstGeom>
          <a:solidFill>
            <a:srgbClr val="FBF9F3"/>
          </a:solidFill>
          <a:ln w="1016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44336"/>
                </a:solidFill>
              </a:rPr>
              <a:t>Exactitud</a:t>
            </a:r>
          </a:p>
          <a:p>
            <a:pPr algn="ctr"/>
            <a:r>
              <a:rPr sz="950" b="0" i="0">
                <a:solidFill>
                  <a:srgbClr val="1A1A1A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1A1A1A"/>
                </a:solidFill>
              </a:rPr>
              <a:t>Activos cerrados, coordenadas incorrectas o ausentes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2599" y="3743999"/>
            <a:ext cx="2670300" cy="1007999"/>
          </a:xfrm>
          <a:prstGeom prst="roundRect">
            <a:avLst>
              <a:gd name="adj" fmla="val 8000"/>
            </a:avLst>
          </a:prstGeom>
          <a:solidFill>
            <a:srgbClr val="FBF9F3"/>
          </a:solidFill>
          <a:ln w="1016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44336"/>
                </a:solidFill>
              </a:rPr>
              <a:t>Escalabilidad</a:t>
            </a:r>
          </a:p>
          <a:p>
            <a:pPr algn="ctr"/>
            <a:r>
              <a:rPr sz="950" b="0" i="0">
                <a:solidFill>
                  <a:srgbClr val="1A1A1A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1A1A1A"/>
                </a:solidFill>
              </a:rPr>
              <a:t>Imposible aplicar a portfolios de +100 empresas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8900" y="3743999"/>
            <a:ext cx="2670300" cy="1007999"/>
          </a:xfrm>
          <a:prstGeom prst="roundRect">
            <a:avLst>
              <a:gd name="adj" fmla="val 8000"/>
            </a:avLst>
          </a:prstGeom>
          <a:solidFill>
            <a:srgbClr val="FBF9F3"/>
          </a:solidFill>
          <a:ln w="1016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44336"/>
                </a:solidFill>
              </a:rPr>
              <a:t>Trazabilidad</a:t>
            </a:r>
          </a:p>
          <a:p>
            <a:pPr algn="ctr"/>
            <a:r>
              <a:rPr sz="950" b="0" i="0">
                <a:solidFill>
                  <a:srgbClr val="1A1A1A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1A1A1A"/>
                </a:solidFill>
              </a:rPr>
              <a:t>Sin log de fuentes consultadas ni fecha de validación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224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01  · 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Limitaciones de las soluciones existentes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Ninguna herramienta actual combina la automatización, el filtrado por activos productivos y un scoring de confianza reproducible.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908000"/>
            <a:ext cx="5466600" cy="324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Fuentes y herramientas actuales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232000"/>
            <a:ext cx="5466600" cy="2916000"/>
          </a:xfrm>
          <a:prstGeom prst="rect">
            <a:avLst/>
          </a:prstGeom>
          <a:solidFill>
            <a:srgbClr val="F2F2F2"/>
          </a:solidFill>
          <a:ln w="1016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00" y="2322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999" y="2304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Google Maps: no distingue activos productivos de otros locales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" y="2772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999" y="2754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Registro Mercantil / CNAE: sin coordenadas ni verificación de estado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00" y="322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999" y="320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LinkedIn: parcial, no estructurado, depende de actualizaciones del usuario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00" y="367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999" y="365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Bureau van Dijk Orbis: costoso, sin API flexible, datos no geolocalizados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00" y="412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999" y="410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Scrapers ad-hoc: frágiles, sin mantenimiento, sin scoring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600" y="1908000"/>
            <a:ext cx="5466600" cy="3240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Por qué no resuelven el problema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6600" y="2232000"/>
            <a:ext cx="5466600" cy="2916000"/>
          </a:xfrm>
          <a:prstGeom prst="rect">
            <a:avLst/>
          </a:prstGeom>
          <a:solidFill>
            <a:srgbClr val="FBF9F3"/>
          </a:solidFill>
          <a:ln w="1016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6600" y="2322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4600" y="2304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No filtran activos productivos vs. otros establecimientos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6600" y="2772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4600" y="2754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No asignan un score de confianza por activo verificado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600" y="322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4600" y="320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No combinan múltiples fuentes heterogéneas automáticamente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6600" y="367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4600" y="365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No ofrecen una UI interactiva de revisión y exportación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600" y="412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4600" y="410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No escalan a portfolios de cientos de empresas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224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01  · 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La oportunidad: convergencia de tres tecnologías clave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Por primera vez, APIs geoespaciales, modelos de lenguaje y agentes autónomos permiten automatizar completamente el proceso.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80000"/>
            <a:ext cx="3560399" cy="2160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Google Maps
Places API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Cobertura global de establecimientos con datos estructurados: nombre, tipo, coordenadas, web, reseñas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8400" y="1980000"/>
            <a:ext cx="3560399" cy="2160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Bedrock
(Claude 3)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Modelos de lenguaje capaces de clasificar, filtrar y valorar activos con razonamiento contextual a bajo coste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6800" y="1980000"/>
            <a:ext cx="3560399" cy="21600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CrewAI +
DuckDuckGo MCP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Agentes autónomos que navegan la web, descargan y evalúan documentos sin intervención humana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6599" y="4320000"/>
            <a:ext cx="3960000" cy="503999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GeoAssets Intelligence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212200" y="4140000"/>
            <a:ext cx="216000" cy="251999"/>
          </a:xfrm>
          <a:prstGeom prst="down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970599" y="4140000"/>
            <a:ext cx="216000" cy="251999"/>
          </a:xfrm>
          <a:prstGeom prst="down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9729000" y="4140000"/>
            <a:ext cx="216000" cy="251999"/>
          </a:xfrm>
          <a:prstGeom prst="down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224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01  · 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Objetivo y alcance del TFM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Construir un sistema end-to-end que localice, clasifique y puntúe los activos productivos de una empresa con mínima intervención humana.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11113200" cy="792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OBJETIVO PRINCIPAL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Sistema end-to-end de localización automatizada de activos productivos empresariales con scoring de confianza reproducible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844000"/>
            <a:ext cx="3578400" cy="306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Ámbito geográfico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150000"/>
            <a:ext cx="3578400" cy="3384000"/>
          </a:xfrm>
          <a:prstGeom prst="rect">
            <a:avLst/>
          </a:prstGeom>
          <a:solidFill>
            <a:srgbClr val="F2F2F2"/>
          </a:solidFill>
          <a:ln w="635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España (expansión futura a EMEA)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Google Maps + fuentes web en español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12 categorías de activo productivo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8400" y="2844000"/>
            <a:ext cx="3578400" cy="306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KPIs de éxito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8400" y="3150000"/>
            <a:ext cx="3578400" cy="3384000"/>
          </a:xfrm>
          <a:prstGeom prst="rect">
            <a:avLst/>
          </a:prstGeom>
          <a:solidFill>
            <a:srgbClr val="F2F2F2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Cobertura ≥ 80 % de activos conocidos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Tier HIGH ≥ 60 % de resultados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Latencia &lt; 3 min por empresa (Maps)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6800" y="2844000"/>
            <a:ext cx="3578400" cy="306000"/>
          </a:xfrm>
          <a:prstGeom prst="roundRect">
            <a:avLst>
              <a:gd name="adj" fmla="val 8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Fuera de alcance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6800" y="3150000"/>
            <a:ext cx="3578400" cy="3384000"/>
          </a:xfrm>
          <a:prstGeom prst="rect">
            <a:avLst/>
          </a:prstGeom>
          <a:solidFill>
            <a:srgbClr val="F2F2F2"/>
          </a:solidFill>
          <a:ln w="63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Activos residenciales / inmuebles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Empresas fuera de España (v1)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Validación sobre el terreno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06000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544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2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AB451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140000"/>
            <a:ext cx="1111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B451"/>
                </a:solidFill>
              </a:rPr>
              <a:t>Plataforma GeoAssets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3200" y="621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97D00"/>
                </a:solidFill>
              </a:rPr>
              <a:t>GeoAssets Intelligence · TFM 2025-2026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224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02  · 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GeoAssets Intelligence: presentación de la plataforma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Una plataforma web que transforma el nombre de una empresa en un mapa georreferenciado de sus activos productivos en minutos.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5220000" cy="1440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Plataforma de inteligencia geoespacial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100" b="1" i="0">
                <a:solidFill>
                  <a:srgbClr val="CAB451"/>
                </a:solidFill>
              </a:rPr>
              <a:t>Localiza · Clasifica · Puntúa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activos productivos mediante tres pipelines de análisis basados en 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0000" y="1908000"/>
            <a:ext cx="5713199" cy="486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⚡ Tiempo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~2 minutos por empresa
(modo Maps API)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0000" y="2448000"/>
            <a:ext cx="5713199" cy="486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🎯 Precisión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Score de confianza
por señales objetivas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0000" y="2988000"/>
            <a:ext cx="5713199" cy="486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📤 Exportación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CSV y Excel
con todos los campos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456000"/>
            <a:ext cx="11113200" cy="307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757575"/>
                </a:solidFill>
              </a:rPr>
              <a:t>[ Captura de pantalla del dashboard principal ]</a:t>
            </a:r>
          </a:p>
          <a:p>
            <a:pPr algn="ctr"/>
            <a:r>
              <a:rPr sz="1100" b="0" i="0">
                <a:solidFill>
                  <a:srgbClr val="757575"/>
                </a:solidFill>
              </a:rPr>
              <a:t/>
            </a:r>
          </a:p>
          <a:p>
            <a:pPr algn="ctr"/>
            <a:r>
              <a:rPr sz="1100" b="0" i="0">
                <a:solidFill>
                  <a:srgbClr val="757575"/>
                </a:solidFill>
              </a:rPr>
              <a:t>Mapa interactivo Leaflet  ·  Sidebar con lista y filtros  ·  Popup de activo con scoring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224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02  · 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Tres modos de análisis para cualquier escenario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El usuario elige el modo según los datos disponibles: desde nombre de empresa hasta documentos internos o búsqueda web autónoma.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3578400" cy="576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MODO 01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Búsqueda Maps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484000"/>
            <a:ext cx="3578400" cy="4050000"/>
          </a:xfrm>
          <a:prstGeom prst="rect">
            <a:avLst/>
          </a:prstGeom>
          <a:solidFill>
            <a:srgbClr val="F2F2F2"/>
          </a:solidFill>
          <a:ln w="1016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08000"/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Input: solo el nombre de la empresa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Pipeline automático de 5 pasos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Google Places API + filtro LLM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~45 segundos de media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Ideal: empresas con presencia en Google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8400" y="1908000"/>
            <a:ext cx="3578400" cy="576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MODO 02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Carga de Documento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8400" y="2484000"/>
            <a:ext cx="3578400" cy="4050000"/>
          </a:xfrm>
          <a:prstGeom prst="rect">
            <a:avLst/>
          </a:prstGeom>
          <a:solidFill>
            <a:srgbClr val="F2F2F2"/>
          </a:solidFill>
          <a:ln w="1016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08000"/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Input: PDF, DOCX o Excel con activos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Pipeline de 6 pasos con parsing IA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Extracción + geocodificación + scoring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~60 segundos de media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Ideal: memoria anual, informes internos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6800" y="1908000"/>
            <a:ext cx="3578400" cy="5760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MODO 03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Agente IA Autónomo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6800" y="2484000"/>
            <a:ext cx="3578400" cy="4050000"/>
          </a:xfrm>
          <a:prstGeom prst="rect">
            <a:avLst/>
          </a:prstGeom>
          <a:solidFill>
            <a:srgbClr val="F2F2F2"/>
          </a:solidFill>
          <a:ln w="1016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08000"/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Input: solo el nombre de la empresa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Agente CrewAI navega la web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Descarga y evalúa documentos relevantes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~3 minutos de media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Ideal: empresas sin datos en Google Maps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224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02  · 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Taxonomía de activos: 12 categorías predefinidas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El modelo LLM asigna a cada activo una de las 12 categorías del enum AssetCategory, con icon y color propios en el mapa.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HQ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Sede Central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6299" y="1908000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OFF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Oficina Regional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2599" y="1908000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FAB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Fábrica / Planta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28900" y="1908000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LOG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Centro Logístico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3491999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TEC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Centro Tecnológico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6299" y="3491999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Punto de Venta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2599" y="3491999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AGR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Explotación Agrícola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8900" y="3491999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ENE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Inst. Energética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5076000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Infraestructura Transporte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6299" y="5076000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HOT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Activo Hotelero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2599" y="5076000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SAN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Centro Sanitario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8900" y="5076000"/>
            <a:ext cx="2670300" cy="1458000"/>
          </a:xfrm>
          <a:prstGeom prst="roundRect">
            <a:avLst>
              <a:gd name="adj" fmla="val 8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OTR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Otro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224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02  · 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Sistema de confianza: scoring con distribución Beta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Cada activo recibe un score 0–100 % calculado a partir de señales ponderadas, suavizado con distribución Beta para evitar extremos artificiales.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3560399" cy="360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  ≥ 70 %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304000"/>
            <a:ext cx="35603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</a:rPr>
              <a:t>Activo claramente perteneciente a la empresa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8400" y="1908000"/>
            <a:ext cx="3560399" cy="360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  40–69 %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8400" y="2304000"/>
            <a:ext cx="35603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</a:rPr>
              <a:t>Activo probable pero con señales mixtas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6800" y="1908000"/>
            <a:ext cx="3560399" cy="360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LOW  &lt; 40 %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6800" y="2304000"/>
            <a:ext cx="35603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</a:rPr>
              <a:t>Activo dudoso, requiere revisión 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736000"/>
            <a:ext cx="5376600" cy="270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000" y="2771999"/>
            <a:ext cx="52685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Pipeline Maps API – 6 señales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006000"/>
            <a:ext cx="5376600" cy="2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000" y="3041999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Nombre incluye la empresa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6600" y="3041999"/>
            <a:ext cx="648000" cy="216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30 %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3276000"/>
            <a:ext cx="5376600" cy="2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000" y="3311999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Tipo compatible con activo productivo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96600" y="3311999"/>
            <a:ext cx="648000" cy="216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3546000"/>
            <a:ext cx="5376600" cy="2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" y="3581999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Señal de ubicación corporativa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96600" y="3581999"/>
            <a:ext cx="648000" cy="216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15 %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816000"/>
            <a:ext cx="5376600" cy="2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000" y="3851999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Dominio web corporativo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96600" y="3851999"/>
            <a:ext cx="648000" cy="216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15 %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4086000"/>
            <a:ext cx="5376600" cy="2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000" y="4121999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Perfil de reseñas B2B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96600" y="4121999"/>
            <a:ext cx="648000" cy="216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000" y="4356000"/>
            <a:ext cx="5376600" cy="2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000" y="4392000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Valoración del modelo 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96600" y="4392000"/>
            <a:ext cx="648000" cy="216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600" y="2736000"/>
            <a:ext cx="5376600" cy="270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8599" y="2771999"/>
            <a:ext cx="52685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Pipeline Documento – 5 señales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600" y="3006000"/>
            <a:ext cx="5376600" cy="2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8599" y="3041999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Fuerza de la evidencia documental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53200" y="3041999"/>
            <a:ext cx="648000" cy="216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600" y="3276000"/>
            <a:ext cx="5376600" cy="2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8599" y="3311999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Especificidad de la dirección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53200" y="3311999"/>
            <a:ext cx="648000" cy="216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600" y="3546000"/>
            <a:ext cx="5376600" cy="2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8599" y="3581999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Origen de las coordenadas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53200" y="3581999"/>
            <a:ext cx="648000" cy="216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6600" y="3816000"/>
            <a:ext cx="5376600" cy="2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8599" y="3851999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Calidad del nombre del activo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53200" y="3851999"/>
            <a:ext cx="648000" cy="216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15 %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600" y="4086000"/>
            <a:ext cx="5376600" cy="2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8599" y="4121999"/>
            <a:ext cx="44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Valoración del modelo IA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53200" y="4121999"/>
            <a:ext cx="648000" cy="216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15 %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06000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544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2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AB451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Arquitectura técnica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140000"/>
            <a:ext cx="1111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B451"/>
                </a:solidFill>
              </a:rPr>
              <a:t>Stack, capas y modelo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3200" y="621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97D00"/>
                </a:solidFill>
              </a:rPr>
              <a:t>GeoAssets Intelligence · TFM 2025-2026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8080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03  ·  Arquitectura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Stack tecnológico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Combinación de tecnologías modernas de código abierto con servicios cloud gestionados para máxima velocidad de desarrollo y escalabilidad.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26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2196F3"/>
                </a:solidFill>
              </a:rPr>
              <a:t>Vue 3 + Vuetify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262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2196F3"/>
                </a:solidFill>
              </a:rPr>
              <a:t>Pinia (state management)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2987999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2196F3"/>
                </a:solidFill>
              </a:rPr>
              <a:t>Leaflet.js (mapas interactivos)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6299" y="190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2B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6299" y="226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2B3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2B3549"/>
                </a:solidFill>
              </a:rPr>
              <a:t>FastAPI (Python 3.12)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6299" y="262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2B3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2B3549"/>
                </a:solidFill>
              </a:rPr>
              <a:t>Server-Sent Events (SSE)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6299" y="2987999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2B3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2B3549"/>
                </a:solidFill>
              </a:rPr>
              <a:t>LiteLLM (proxy LLM)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2599" y="190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IA &amp; Agentes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2599" y="226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FF9800"/>
                </a:solidFill>
              </a:rPr>
              <a:t>AWS Bedrock – Claude 3 Sonnet/Haiku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2599" y="262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009688"/>
                </a:solidFill>
              </a:rPr>
              <a:t>CrewAI – orquestación de agentes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2599" y="2987999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009688"/>
                </a:solidFill>
              </a:rPr>
              <a:t>DuckDuckGo MCP – búsqueda web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8900" y="190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Datos &amp; Infra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8900" y="226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4CAF50"/>
                </a:solidFill>
              </a:rPr>
              <a:t>Redis – caché TTL 24h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8900" y="2628000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4CAF50"/>
                </a:solidFill>
              </a:rPr>
              <a:t>PostgreSQL – persistencia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8900" y="2987999"/>
            <a:ext cx="2670300" cy="30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757575"/>
                </a:solidFill>
              </a:rPr>
              <a:t>Docker – contenedorización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6282000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7D00"/>
                </a:solidFill>
              </a:rPr>
              <a:t>✓  Sin vendor lock-in en LLM: LiteLLM permite cambiar de modelo sin modificar el código de negocio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8080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03  ·  Arquitectura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Diagrama de arquitectura: tres capas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Arquitectura en capas con flujo de datos de petición (→) y respuesta en streaming (SSE ←), desplegada en contenedores Docker.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3560399" cy="468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PRESENTACIÓN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Vue 3 + Vuetify + Pinia + Leaflet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448000"/>
            <a:ext cx="3560399" cy="378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762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1A1A1A"/>
                </a:solidFill>
              </a:rPr>
              <a:t>EventSource (SSE)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2880000"/>
            <a:ext cx="3560399" cy="378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762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1A1A1A"/>
                </a:solidFill>
              </a:rPr>
              <a:t>Pinia store reactivo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3311999"/>
            <a:ext cx="3560399" cy="378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762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1A1A1A"/>
                </a:solidFill>
              </a:rPr>
              <a:t>Mapa Leaflet + Popups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8400" y="2088000"/>
            <a:ext cx="162000" cy="216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ft Arrow 13"/>
          <p:cNvSpPr/>
          <p:nvPr/>
        </p:nvSpPr>
        <p:spPr>
          <a:xfrm>
            <a:off x="4118400" y="2411999"/>
            <a:ext cx="162000" cy="180000"/>
          </a:xfrm>
          <a:prstGeom prst="lef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8400" y="1908000"/>
            <a:ext cx="3560399" cy="468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API &amp; LÓGICA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FastAPI + Orquestadores de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8400" y="2448000"/>
            <a:ext cx="3560399" cy="378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762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1A1A1A"/>
                </a:solidFill>
              </a:rPr>
              <a:t>run_pipeline_sse()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8400" y="2880000"/>
            <a:ext cx="3560399" cy="378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762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1A1A1A"/>
                </a:solidFill>
              </a:rPr>
              <a:t>run_doc_pipeline_sse()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8400" y="3311999"/>
            <a:ext cx="3560399" cy="378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762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1A1A1A"/>
                </a:solidFill>
              </a:rPr>
              <a:t>SSE streaming a cliente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76800" y="2088000"/>
            <a:ext cx="162000" cy="216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7876800" y="2411999"/>
            <a:ext cx="162000" cy="180000"/>
          </a:xfrm>
          <a:prstGeom prst="lef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56800" y="1908000"/>
            <a:ext cx="3560399" cy="468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SERVICIOS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IA + Datos + APIs externas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6800" y="2448000"/>
            <a:ext cx="3560399" cy="378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762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1A1A1A"/>
                </a:solidFill>
              </a:rPr>
              <a:t>AWS Bedrock (Claude)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6800" y="2880000"/>
            <a:ext cx="3560399" cy="378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762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1A1A1A"/>
                </a:solidFill>
              </a:rPr>
              <a:t>Google Maps / Places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6800" y="3311999"/>
            <a:ext cx="3560399" cy="378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762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1A1A1A"/>
                </a:solidFill>
              </a:rPr>
              <a:t>Redis + PostgreSQL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3888000"/>
            <a:ext cx="11113200" cy="25396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3960000"/>
            <a:ext cx="1111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1A48"/>
                </a:solidFill>
              </a:rPr>
              <a:t>Protocolo SSE: job_started → step_start → step_complete → complete / 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4248000"/>
            <a:ext cx="1111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El frontend suscribe a EventSource; cada evento actualiza el estado de Pinia y la barra de progreso de la UI en tiempo real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8080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03  ·  Arquitectura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Modelo de datos y gestión de caché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Dos entidades principales (Company, Asset) persistidas en PostgreSQL con caché Redis TTL=24h para evitar llamadas redundantes a las APIs.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908000"/>
            <a:ext cx="6667919" cy="270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1943999"/>
            <a:ext cx="65599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Entidad Asset — campos principales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178000"/>
            <a:ext cx="6667919" cy="4194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196000"/>
            <a:ext cx="2880000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id, company_id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8000" y="2196000"/>
            <a:ext cx="3607919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UUIDs de activo y empresa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2597400"/>
            <a:ext cx="6667919" cy="4194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2615400"/>
            <a:ext cx="2880000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name, raw_name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8000" y="2615400"/>
            <a:ext cx="3607919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Nombre normalizado y nombre original extraído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016799"/>
            <a:ext cx="6667919" cy="4194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000" y="3034800"/>
            <a:ext cx="2880000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8000" y="3034800"/>
            <a:ext cx="3607919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Enum AssetCategory (12 valores)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3436200"/>
            <a:ext cx="6667919" cy="4194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000" y="3454200"/>
            <a:ext cx="2880000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latitude, longitude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8000" y="3454200"/>
            <a:ext cx="3607919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Coordenadas WGS84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3855600"/>
            <a:ext cx="6667919" cy="419400"/>
          </a:xfrm>
          <a:prstGeom prst="rect">
            <a:avLst/>
          </a:prstGeom>
          <a:solidFill>
            <a:srgbClr val="FBF9F3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" y="3873600"/>
            <a:ext cx="2880000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address, municipality, province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8000" y="3873600"/>
            <a:ext cx="3607919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Dirección completa estructurada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4275000"/>
            <a:ext cx="6667919" cy="419400"/>
          </a:xfrm>
          <a:prstGeom prst="rect">
            <a:avLst/>
          </a:prstGeom>
          <a:solidFill>
            <a:srgbClr val="FBF9F3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000" y="4293000"/>
            <a:ext cx="2880000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confidence_score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8000" y="4293000"/>
            <a:ext cx="3607919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Float 0–1 (score Beta suavizado)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4694400"/>
            <a:ext cx="6667919" cy="419400"/>
          </a:xfrm>
          <a:prstGeom prst="rect">
            <a:avLst/>
          </a:prstGeom>
          <a:solidFill>
            <a:srgbClr val="FBF9F3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000" y="4712400"/>
            <a:ext cx="2880000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confidence_tier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8000" y="4712400"/>
            <a:ext cx="3607919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HIGH / MEDIUM / 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000" y="5113800"/>
            <a:ext cx="6667919" cy="419400"/>
          </a:xfrm>
          <a:prstGeom prst="rect">
            <a:avLst/>
          </a:prstGeom>
          <a:solidFill>
            <a:srgbClr val="FBF9F3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000" y="5131800"/>
            <a:ext cx="2880000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confidence_signals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0" y="5131800"/>
            <a:ext cx="3607919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Dict[str, float] — señales individuales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533200"/>
            <a:ext cx="6667919" cy="419400"/>
          </a:xfrm>
          <a:prstGeom prst="rect">
            <a:avLst/>
          </a:prstGeom>
          <a:solidFill>
            <a:srgbClr val="FBF9F3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000" y="5551200"/>
            <a:ext cx="2880000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data_sources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0" y="5551200"/>
            <a:ext cx="3607919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List[str] — pipelines que aportaron datos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0" y="5952600"/>
            <a:ext cx="6667919" cy="4194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000" y="5970600"/>
            <a:ext cx="2880000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website, phone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0" y="5970600"/>
            <a:ext cx="3607919" cy="38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Datos de contacto (Maps enrichment)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87919" y="1908000"/>
            <a:ext cx="4265280" cy="1152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Redis TTL 24h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Evita llamadas repetidas a Maps API y Bedrock para la misma empresa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87919" y="3168000"/>
            <a:ext cx="4265280" cy="1152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force_refresh=True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El usuario puede forzar re-análisis desde la UI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87919" y="4428000"/>
            <a:ext cx="4265280" cy="1152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PostgreSQL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Persistencia histórica: series temporales de activos por empresa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06000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544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2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AB451"/>
                </a:solidFill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Pipelines de análisis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140000"/>
            <a:ext cx="1111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B451"/>
                </a:solidFill>
              </a:rPr>
              <a:t>Tres pipelines complementarios para cualquier escenario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3200" y="621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97D00"/>
                </a:solidFill>
              </a:rPr>
              <a:t>GeoAssets Intelligence · TFM 2025-2026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872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04  ·  Pipelines de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Visión general: tres pipelines complementarios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Cada pipeline está optimizado para un tipo de datos de entrada diferente; el modo combinado puede fusionar resultados de varios pipelines.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4599" y="1872000"/>
            <a:ext cx="2340000" cy="30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2600" y="1872000"/>
            <a:ext cx="2700000" cy="306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Maps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0600" y="1872000"/>
            <a:ext cx="2700000" cy="306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Documento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600" y="1872000"/>
            <a:ext cx="2700000" cy="306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599" y="2178000"/>
            <a:ext cx="234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599" y="2214000"/>
            <a:ext cx="225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1A48"/>
                </a:solidFill>
              </a:rPr>
              <a:t>Fuente de datos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62600" y="2178000"/>
            <a:ext cx="270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6600" y="2214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96F3"/>
                </a:solidFill>
              </a:rPr>
              <a:t>Google Places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0600" y="2178000"/>
            <a:ext cx="270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4600" y="2214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B1FA2"/>
                </a:solidFill>
              </a:rPr>
              <a:t>PDF / DOCX / 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600" y="2178000"/>
            <a:ext cx="270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2600" y="2214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688"/>
                </a:solidFill>
              </a:rPr>
              <a:t>Búsqueda web DuckDuckGo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4599" y="2556000"/>
            <a:ext cx="234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599" y="2591999"/>
            <a:ext cx="225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1A48"/>
                </a:solidFill>
              </a:rPr>
              <a:t>Nº de pasos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62600" y="2556000"/>
            <a:ext cx="270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16600" y="2591999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5 pasos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70600" y="2556000"/>
            <a:ext cx="270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24600" y="2591999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6 pasos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600" y="2556000"/>
            <a:ext cx="270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2600" y="2591999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Variable (agentic)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4599" y="2934000"/>
            <a:ext cx="234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599" y="2970000"/>
            <a:ext cx="225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1A48"/>
                </a:solidFill>
              </a:rPr>
              <a:t>Tiempo estimado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2600" y="2934000"/>
            <a:ext cx="270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6600" y="2970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~45 segundos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70600" y="2934000"/>
            <a:ext cx="270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24600" y="2970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~60 segundos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600" y="2934000"/>
            <a:ext cx="270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32600" y="2970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~3 minutos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4599" y="3311999"/>
            <a:ext cx="234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599" y="3347999"/>
            <a:ext cx="225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1A48"/>
                </a:solidFill>
              </a:rPr>
              <a:t>Precisión esperada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2600" y="3311999"/>
            <a:ext cx="270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16600" y="3347999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Alta (tier HIGH ~65 %)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70600" y="3311999"/>
            <a:ext cx="270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24600" y="3347999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Muy alta (tier HIGH ~75 %)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600" y="3311999"/>
            <a:ext cx="270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32600" y="3347999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Media-alta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4599" y="3690000"/>
            <a:ext cx="234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599" y="3726000"/>
            <a:ext cx="225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1A48"/>
                </a:solidFill>
              </a:rPr>
              <a:t>Caso de uso ideal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2600" y="3690000"/>
            <a:ext cx="270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16600" y="3726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Empresa en Google Maps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70600" y="3690000"/>
            <a:ext cx="270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24600" y="3726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Informe anual / BD interna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600" y="3690000"/>
            <a:ext cx="2700000" cy="378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32600" y="3726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Sin datos previos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4599" y="4068000"/>
            <a:ext cx="234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599" y="4104000"/>
            <a:ext cx="225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1A48"/>
                </a:solidFill>
              </a:rPr>
              <a:t>Requisito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2600" y="4068000"/>
            <a:ext cx="270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16600" y="4104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Nombre de empresa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70600" y="4068000"/>
            <a:ext cx="270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24600" y="4104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Fichero subido por usuario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600" y="4068000"/>
            <a:ext cx="2700000" cy="378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32600" y="4104000"/>
            <a:ext cx="261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Solo nombre de empresa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872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04  ·  Pipelines de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Pipeline Maps API: 5 pasos automatizados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El pipeline más rápido: ingiere solo el nombre de la empresa y retorna activos geocodificados con scoring en ~45 segundos.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80000"/>
            <a:ext cx="2042639" cy="4518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Identificar
empresa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LLM extrae nombre
canónico, CIF, sector,
CNAE y sede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2319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0639" y="4149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8639" y="1980000"/>
            <a:ext cx="2042639" cy="4518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Buscar en
Google Maps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Múltiples queries con
variantes del nombre;
devuelve hasta N places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0959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9280" y="4149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57279" y="1980000"/>
            <a:ext cx="2042639" cy="4518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Filtrar y
Clasificar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LLM descarta locales
no productivos y asigna
categoría del enum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79600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17919" y="4149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919" y="1980000"/>
            <a:ext cx="2042639" cy="4518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Enriquecer
datos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Places Details API:
web, teléfono, reseñas
y señales B2B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239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3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76559" y="4149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74559" y="1980000"/>
            <a:ext cx="2042639" cy="4518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Calcular
confianza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Score ponderado de 6
señales + suavizado
Beta → tier HIGH/MED/LOW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96880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6570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97D00"/>
                </a:solidFill>
              </a:rPr>
              <a:t>Señales del score: name_match (30%) · type_match (20%) · address_corporate (15%) · website_match (15%) · reviews_b2b (10%) · llm_confidence (10%)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872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04  ·  Pipelines de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Pipeline Documento: extracción IA de activos de ficheros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El pipeline de mayor precisión: procesa informes anuales, memorias de activos o bases de datos internas para extraer localizaciones con alta fiabilidad.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80000"/>
            <a:ext cx="1708199" cy="4518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Parsear
documento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PDF/DOCX/Excel
→ Markdown
(LlamaParse/pdfminer)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5100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66199" y="4149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8199" y="1980000"/>
            <a:ext cx="1708199" cy="4518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Chunking
semántico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Divide Markdown
en chunks
coherentes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3300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54399" y="4149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6399" y="1980000"/>
            <a:ext cx="1708199" cy="4518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Extraer
activos (IA)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LLM extrae entidades
nombre, dirección, tipo
de cada chunk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1499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42600" y="4149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4600" y="1980000"/>
            <a:ext cx="1708199" cy="4518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Deduplicar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Agrupa menciones
del mismo activo por
similitud de nombre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59700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3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30799" y="4149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799" y="1980000"/>
            <a:ext cx="1708199" cy="4518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Geocodificar
y enriquecer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Google Geocoding API
+ Places Details
para coordenadas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7899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4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818999" y="4149000"/>
            <a:ext cx="288000" cy="180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80999" y="1980000"/>
            <a:ext cx="1708199" cy="4518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Calcular
confianza</a:t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</a:rPr>
              <a:t>5 señales documentales
+ suavizado Beta
→ tier HIGH/MED/LOW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36099" y="1880999"/>
            <a:ext cx="198000" cy="198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01A48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6570000"/>
            <a:ext cx="1111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B1FA2"/>
                </a:solidFill>
              </a:rPr>
              <a:t>Señales: evidence_strength (30%) · address_specificity (20%) · coordinate_source (20%) · name_quality (15%) · llm_confidence (15%)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872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04  ·  Pipelines de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Pipeline Agente IA: búsqueda web autónoma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El agente actúa como un analista humano: lanza búsquedas, evalúa documentos y los filtra por relevancia antes de pasarlos al pipeline de documento.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908000"/>
            <a:ext cx="5466600" cy="324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Fase 1 – Búsqueda y selección de documentos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232000"/>
            <a:ext cx="5466600" cy="3096000"/>
          </a:xfrm>
          <a:prstGeom prst="rect">
            <a:avLst/>
          </a:prstGeom>
          <a:solidFill>
            <a:srgbClr val="F2F2F2"/>
          </a:solidFill>
          <a:ln w="1016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00" y="2322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999" y="2304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1. AgentSearchView: el agente lanza queries en DuckDuckGo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" y="2772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999" y="2754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2. Descarga PDFs y DOCXs de URLs encontradas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00" y="322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999" y="320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3. Emite eventos en tiempo real: thinking → searching → found_urls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00" y="367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999" y="365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4. Acepta o rechaza cada documento por criterio de relevancia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00" y="412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999" y="410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5. El usuario revisa la lista antes de confirmar el análisis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600" y="1908000"/>
            <a:ext cx="5466600" cy="324000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Fase 2 – Revisión y análisis de documentos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6600" y="2232000"/>
            <a:ext cx="5466600" cy="3096000"/>
          </a:xfrm>
          <a:prstGeom prst="rect">
            <a:avLst/>
          </a:prstGeom>
          <a:solidFill>
            <a:srgbClr val="FBF9F3"/>
          </a:solidFill>
          <a:ln w="1016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6600" y="2322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4600" y="2304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1. AgentDocumentReviewView: lista de ficheros aceptados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6600" y="2772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4600" y="2754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2. El usuario confirma → lanza pipeline de documento por cada fichero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600" y="322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4600" y="320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3. Procesamiento paralelo configurable (max_concurrent)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6600" y="367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4600" y="365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4. Fusión de resultados de múltiples fuentes en un único mapa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600" y="4121999"/>
            <a:ext cx="234000" cy="234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4600" y="4103999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5. Score de confianza incluye data_source = 'agent_search'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5364000"/>
            <a:ext cx="111132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A48"/>
                </a:solidFill>
              </a:rPr>
              <a:t>Tipos de evento SSE del agente: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0000" y="5508000"/>
            <a:ext cx="1726200" cy="234000"/>
          </a:xfrm>
          <a:prstGeom prst="roundRect">
            <a:avLst>
              <a:gd name="adj" fmla="val 8000"/>
            </a:avLst>
          </a:prstGeom>
          <a:solidFill>
            <a:srgbClr val="2B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thinking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92200" y="5508000"/>
            <a:ext cx="1726200" cy="234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searching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44400" y="5508000"/>
            <a:ext cx="1726200" cy="234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found_urls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6600" y="5508000"/>
            <a:ext cx="1726200" cy="234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downloading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48799" y="5508000"/>
            <a:ext cx="1726200" cy="234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accepted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1000" y="5508000"/>
            <a:ext cx="17262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rejected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8728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04  ·  Pipelines de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¿Qué pipeline utilizar? Árbol de decisión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La elección del pipeline depende de los datos disponibles y del tiempo aceptable; el modo combinado permite fusionar resultados de varios pipelines.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6599" y="1944000"/>
            <a:ext cx="5040000" cy="432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¿Tienes un documento con los activos? (PDF, DOCX, Excel)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0000" y="2844000"/>
            <a:ext cx="1980000" cy="360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3384000"/>
            <a:ext cx="3060000" cy="1007999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PIPELINE DOCUMENTO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Alta precisión · ~60 s
Fuente: documento interno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6599" y="2844000"/>
            <a:ext cx="5040000" cy="432000"/>
          </a:xfrm>
          <a:prstGeom prst="roundRect">
            <a:avLst>
              <a:gd name="adj" fmla="val 8000"/>
            </a:avLst>
          </a:prstGeom>
          <a:solidFill>
            <a:srgbClr val="2B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¿La empresa tiene presencia en Google Maps?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6600" y="3924000"/>
            <a:ext cx="3240000" cy="1007999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PIPELINE MAPS API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Rápido · ~45 s
Fuente: Google Places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3199" y="3924000"/>
            <a:ext cx="3240000" cy="1007999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PIPELINE AGENTE IA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Autónomo · ~3 min
Fuente: búsqueda web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5364000"/>
            <a:ext cx="11113200" cy="540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01A48"/>
                </a:solidFill>
              </a:rPr>
              <a:t>MODO COMBINADO: es posible fusionar los resultados de varios pipelines en un único mapa con deduplicación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06000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544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2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AB451"/>
                </a:solidFill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Demostración y resultados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140000"/>
            <a:ext cx="1111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B451"/>
                </a:solidFill>
              </a:rPr>
              <a:t>Casos de prueba, métricas e interfaz de usuario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3200" y="621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97D00"/>
                </a:solidFill>
              </a:rPr>
              <a:t>GeoAssets Intelligence · TFM 2025-2026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3131999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05  ·  Demostración y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Caso de prueba 1: Inditex — Pipeline Maps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Empresa con alta presencia en Google Maps. El pipeline identifica la sede de A Coruña, centros logísticos y excluye tiendas minoristas franquiciadas.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2114640" cy="792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18 activos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Activos identificados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0639" y="1908000"/>
            <a:ext cx="2114640" cy="792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12 (67 %)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Tier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1279" y="1908000"/>
            <a:ext cx="2114640" cy="792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 (22 %)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Tier 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1919" y="1908000"/>
            <a:ext cx="2114640" cy="792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 (11 %)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Tier 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2559" y="1908000"/>
            <a:ext cx="2114640" cy="792000"/>
          </a:xfrm>
          <a:prstGeom prst="roundRect">
            <a:avLst>
              <a:gd name="adj" fmla="val 8000"/>
            </a:avLst>
          </a:prstGeom>
          <a:solidFill>
            <a:srgbClr val="2B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~42 segundos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Tiempo de ejecución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2808000"/>
            <a:ext cx="11113200" cy="251999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2844000"/>
            <a:ext cx="50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Activo identificado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0" y="2844000"/>
            <a:ext cx="14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Categoría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0000" y="2844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Confianza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0000" y="2844000"/>
            <a:ext cx="2113199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060000"/>
            <a:ext cx="11113200" cy="61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3078000"/>
            <a:ext cx="504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Sede Central A Coruña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000" y="3078000"/>
            <a:ext cx="1260000" cy="561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0000" y="3078000"/>
            <a:ext cx="1440000" cy="561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97 %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000" y="3078000"/>
            <a:ext cx="216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50"/>
                </a:solidFill>
              </a:rP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3675000"/>
            <a:ext cx="11113200" cy="61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000" y="3693000"/>
            <a:ext cx="504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Inditex Campus, Arteixo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000" y="3693000"/>
            <a:ext cx="1260000" cy="561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0000" y="3693000"/>
            <a:ext cx="1440000" cy="561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91 %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000" y="3693000"/>
            <a:ext cx="216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50"/>
                </a:solidFill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4290000"/>
            <a:ext cx="11113200" cy="61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000" y="4308000"/>
            <a:ext cx="504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Plataforma Logística Zaragoza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0" y="4308000"/>
            <a:ext cx="1260000" cy="561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80000" y="4308000"/>
            <a:ext cx="1440000" cy="561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88 %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000" y="4308000"/>
            <a:ext cx="216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50"/>
                </a:solidFill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4905000"/>
            <a:ext cx="11113200" cy="61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000" y="4923000"/>
            <a:ext cx="504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Centro Tecnológico Narón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000" y="4923000"/>
            <a:ext cx="1260000" cy="561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80000" y="4923000"/>
            <a:ext cx="1440000" cy="561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72 %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000" y="4923000"/>
            <a:ext cx="216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800"/>
                </a:solidFill>
              </a:rPr>
              <a:t>MEDIUM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000" y="5520000"/>
            <a:ext cx="11113200" cy="61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000" y="5538000"/>
            <a:ext cx="504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Almacén Meco (Madrid)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60000" y="5538000"/>
            <a:ext cx="1260000" cy="561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80000" y="5538000"/>
            <a:ext cx="1440000" cy="561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65 %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0000" y="5538000"/>
            <a:ext cx="216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800"/>
                </a:solidFill>
              </a:rPr>
              <a:t>MEDIUM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0000" y="6134999"/>
            <a:ext cx="11113200" cy="61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000" y="6152999"/>
            <a:ext cx="504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Oficinas Barcelona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000" y="6152999"/>
            <a:ext cx="1260000" cy="561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OFF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80000" y="6152999"/>
            <a:ext cx="1440000" cy="561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58 %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000" y="6152999"/>
            <a:ext cx="2160000" cy="57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800"/>
                </a:solidFill>
              </a:rPr>
              <a:t>MEDIUM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3131999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05  ·  Demostración y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Métricas de calidad y rendimiento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Evaluación cuantitativa sobre un conjunto de empresas piloto con activos conocidos previamente validados de forma manual.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3560399" cy="126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2015999"/>
            <a:ext cx="33803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82 %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484000"/>
            <a:ext cx="33803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1A48"/>
                </a:solidFill>
              </a:rPr>
              <a:t>Precision@K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2736000"/>
            <a:ext cx="33803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% activos HIGH-tier validados manualmente como correctos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8400" y="1908000"/>
            <a:ext cx="3560399" cy="126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6400" y="2015999"/>
            <a:ext cx="33803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196F3"/>
                </a:solidFill>
              </a:rPr>
              <a:t>78 %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6400" y="2484000"/>
            <a:ext cx="33803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1A48"/>
                </a:solidFill>
              </a:rPr>
              <a:t>Recall estimado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6400" y="2736000"/>
            <a:ext cx="33803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% activos conocidos recuperados vs. total real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6800" y="1908000"/>
            <a:ext cx="3560399" cy="126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B3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4800" y="2015999"/>
            <a:ext cx="33803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3549"/>
                </a:solidFill>
              </a:rPr>
              <a:t>~45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4800" y="2484000"/>
            <a:ext cx="33803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1A48"/>
                </a:solidFill>
              </a:rPr>
              <a:t>Latencia Maps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4800" y="2736000"/>
            <a:ext cx="33803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Mediana de tiempo de ejecución del pipeline Maps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000" y="3311999"/>
            <a:ext cx="3560399" cy="126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000" y="3420000"/>
            <a:ext cx="33803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B1FA2"/>
                </a:solidFill>
              </a:rPr>
              <a:t>~60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" y="3887999"/>
            <a:ext cx="33803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1A48"/>
                </a:solidFill>
              </a:rPr>
              <a:t>Latencia Documento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" y="4140000"/>
            <a:ext cx="33803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Mediana de tiempo (fichero 20 páginas)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8400" y="3311999"/>
            <a:ext cx="3560399" cy="126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6400" y="3420000"/>
            <a:ext cx="33803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~180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6400" y="3887999"/>
            <a:ext cx="33803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1A48"/>
                </a:solidFill>
              </a:rPr>
              <a:t>Latencia Agente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6400" y="4140000"/>
            <a:ext cx="33803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Mediana incluyendo búsqueda web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6800" y="3311999"/>
            <a:ext cx="3560399" cy="126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4800" y="3420000"/>
            <a:ext cx="33803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97D00"/>
                </a:solidFill>
              </a:rPr>
              <a:t>63 %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4800" y="3887999"/>
            <a:ext cx="33803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1A48"/>
                </a:solidFill>
              </a:rPr>
              <a:t>Tier HIGH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4800" y="4140000"/>
            <a:ext cx="33803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Proporción de activos con confianza alta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3131999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05  ·  Demostración y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Interfaz de usuario: detalle del score de confianza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El popup del mapa muestra score, tier y un botón de información que abre un diálogo con el desglose completo de señales.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4860000" cy="469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0000" y="1908000"/>
            <a:ext cx="4860000" cy="306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1943999"/>
            <a:ext cx="46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Plataforma Logística Zaragoza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2268000"/>
            <a:ext cx="1080000" cy="216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000" y="2268000"/>
            <a:ext cx="1080000" cy="216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LOG  Centro Logístico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25560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📍 Pol. Ind. Plaza, Zaragoza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2771999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Centro de distribución con gestión automatizada de almacén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298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Confianza: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68000" y="3006000"/>
            <a:ext cx="1980000" cy="144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0" y="2988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50"/>
                </a:solidFill>
              </a:rPr>
              <a:t>88 %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" y="32400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B3549"/>
                </a:solidFill>
              </a:rPr>
              <a:t>🏷  logística · distribución · almacén · ZARAGOZA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000" y="3528000"/>
            <a:ext cx="1980000" cy="198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8000" y="3528000"/>
            <a:ext cx="1980000" cy="198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Ver en Google Maps ↗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508000" y="4112999"/>
            <a:ext cx="432000" cy="288000"/>
          </a:xfrm>
          <a:prstGeom prst="rightArrow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0000" y="1908000"/>
            <a:ext cx="5533199" cy="469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0000" y="1908000"/>
            <a:ext cx="5533199" cy="306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8000" y="1943999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Detalle de confianza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8000" y="2268000"/>
            <a:ext cx="5245199" cy="54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000" y="2304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AF50"/>
                </a:solidFill>
              </a:rPr>
              <a:t>88 %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0000" y="2411999"/>
            <a:ext cx="1440000" cy="234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40000" y="2411999"/>
            <a:ext cx="1440000" cy="234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Alta confianza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8000" y="2880000"/>
            <a:ext cx="53531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57575"/>
                </a:solidFill>
              </a:rPr>
              <a:t>Fuente del análisis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8000" y="3060000"/>
            <a:ext cx="1620000" cy="216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🗺 Google Maps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8000" y="3348000"/>
            <a:ext cx="53531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57575"/>
                </a:solidFill>
              </a:rPr>
              <a:t>Señales utilizadas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8000" y="3546000"/>
            <a:ext cx="2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Nombre incluye empresa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8000" y="3707999"/>
            <a:ext cx="2880000" cy="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8000" y="3707999"/>
            <a:ext cx="2592000" cy="10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8000" y="3906000"/>
            <a:ext cx="2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Tipo compatible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28000" y="4067999"/>
            <a:ext cx="2880000" cy="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8000" y="4067999"/>
            <a:ext cx="2448000" cy="10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8000" y="4266000"/>
            <a:ext cx="2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Ubicación corporativa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28000" y="4428000"/>
            <a:ext cx="2880000" cy="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8000" y="4428000"/>
            <a:ext cx="1440000" cy="10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8000" y="4626000"/>
            <a:ext cx="25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Dominio web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28000" y="4788000"/>
            <a:ext cx="2880000" cy="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28000" y="4788000"/>
            <a:ext cx="2304000" cy="10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06000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544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2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AB451"/>
                </a:solidFill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Benchmarking competitivo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140000"/>
            <a:ext cx="1111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B451"/>
                </a:solidFill>
              </a:rPr>
              <a:t>Posicionamiento frente a soluciones existentes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3200" y="621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97D00"/>
                </a:solidFill>
              </a:rPr>
              <a:t>GeoAssets Intelligence · TFM 2025-2026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30672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06  ·  Benchmarking competitivo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Panorama de soluciones existentes y posicionamiento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GeoAssets Intelligence se diferencia por combinar tres fuentes heterogéneas con scoring unificado, diseño específico para activos productivos y código abierto.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872000"/>
            <a:ext cx="2114640" cy="468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GeoAssets
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34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4CAF50"/>
                </a:solidFill>
              </a:rPr>
              <a:t>★★★★★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045000"/>
            <a:ext cx="2114640" cy="70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4CAF50"/>
                </a:solidFill>
              </a:rPr>
              <a:t>★★★★★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375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4CAF50"/>
                </a:solidFill>
              </a:rPr>
              <a:t>★★★★★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4455000"/>
            <a:ext cx="2114640" cy="70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4CAF50"/>
                </a:solidFill>
              </a:rPr>
              <a:t>★★★★★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516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4CAF50"/>
                </a:solidFill>
              </a:rPr>
              <a:t>★★★★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0639" y="1872000"/>
            <a:ext cx="2114640" cy="468000"/>
          </a:xfrm>
          <a:prstGeom prst="roundRect">
            <a:avLst>
              <a:gd name="adj" fmla="val 8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Google Maps
Platform (raw)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0639" y="234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0639" y="3045000"/>
            <a:ext cx="2114640" cy="70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0639" y="375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0639" y="4455000"/>
            <a:ext cx="2114640" cy="70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★★★★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0639" y="516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★★★★★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1279" y="1872000"/>
            <a:ext cx="2114640" cy="468000"/>
          </a:xfrm>
          <a:prstGeom prst="roundRect">
            <a:avLst>
              <a:gd name="adj" fmla="val 8000"/>
            </a:avLst>
          </a:prstGeom>
          <a:solidFill>
            <a:srgbClr val="2B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Bureau van Dijk
Orbis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1279" y="234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1279" y="3045000"/>
            <a:ext cx="2114640" cy="70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1279" y="375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1279" y="4455000"/>
            <a:ext cx="2114640" cy="70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1279" y="516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1919" y="1872000"/>
            <a:ext cx="2114640" cy="4680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CARTO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1919" y="234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★★★★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1919" y="3045000"/>
            <a:ext cx="2114640" cy="70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1919" y="375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1919" y="4455000"/>
            <a:ext cx="2114640" cy="70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1919" y="516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★★★★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2559" y="1872000"/>
            <a:ext cx="2114640" cy="468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Scraper
ad-hoc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2559" y="234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2559" y="3045000"/>
            <a:ext cx="2114640" cy="70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2559" y="375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2559" y="4455000"/>
            <a:ext cx="2114640" cy="705000"/>
          </a:xfrm>
          <a:prstGeom prst="rect">
            <a:avLst/>
          </a:prstGeom>
          <a:solidFill>
            <a:srgbClr val="FFFFFF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★★★★★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2559" y="5160000"/>
            <a:ext cx="2114640" cy="705000"/>
          </a:xfrm>
          <a:prstGeom prst="rect">
            <a:avLst/>
          </a:prstGeom>
          <a:solidFill>
            <a:srgbClr val="F2F2F2"/>
          </a:solidFill>
          <a:ln w="381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757575"/>
                </a:solidFill>
              </a:rPr>
              <a:t>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99" y="26205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57575"/>
                </a:solidFill>
              </a:rPr>
              <a:t>Automatización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99" y="33255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57575"/>
                </a:solidFill>
              </a:rPr>
              <a:t>Filtro productivos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99" y="40305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57575"/>
                </a:solidFill>
              </a:rPr>
              <a:t>Scoring propio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99" y="47355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57575"/>
                </a:solidFill>
              </a:rPr>
              <a:t>Coste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99" y="54405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57575"/>
                </a:solidFill>
              </a:rPr>
              <a:t>Integración API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06000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544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2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AB451"/>
                </a:solidFill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Propuesta de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140000"/>
            <a:ext cx="1111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B451"/>
                </a:solidFill>
              </a:rPr>
              <a:t>Impacto, roadmap y conclusiones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3200" y="621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997D00"/>
                </a:solidFill>
              </a:rPr>
              <a:t>GeoAssets Intelligence · TFM 2025-2026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6784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07  · 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Propuesta de valor: del proceso manual al proceso automatizado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GeoAssets Intelligence transforma un proceso de 4 horas en 2 minutos con mayor cobertura, trazabilidad y scoring objetivo.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872000"/>
            <a:ext cx="5466600" cy="3240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 IS  —  Proceso actual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196000"/>
            <a:ext cx="5466600" cy="3096000"/>
          </a:xfrm>
          <a:prstGeom prst="rect">
            <a:avLst/>
          </a:prstGeom>
          <a:solidFill>
            <a:srgbClr val="F2F2F2"/>
          </a:solidFill>
          <a:ln w="1016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00" y="2286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999" y="2268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2–4 horas por empresa, cobertura parcial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" y="2736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999" y="2718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Sin trazabilidad de fuentes consultadas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00" y="3186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999" y="3168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Sin score de confianza por activo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00" y="3636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999" y="3618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Imposible escalar a +100 empresas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00" y="4086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999" y="4068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Resultados no reproducibles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600" y="1872000"/>
            <a:ext cx="5466600" cy="324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TO BE  —  Con GeoAssets Intelligence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6600" y="2196000"/>
            <a:ext cx="5466600" cy="3096000"/>
          </a:xfrm>
          <a:prstGeom prst="rect">
            <a:avLst/>
          </a:prstGeom>
          <a:solidFill>
            <a:srgbClr val="FBF9F3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6600" y="2286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4600" y="2268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~2 minutos por empresa, cobertura alta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6600" y="2736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4600" y="2718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Log de fuentes y fecha de análisis por activo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600" y="3186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4600" y="3168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Score 0–100 % con señales ponderadas y tier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6600" y="3636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4600" y="3618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Portfolio de cientos de empresas en batch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600" y="4086000"/>
            <a:ext cx="234000" cy="234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4600" y="4068000"/>
            <a:ext cx="49985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Resultados reproducibles y exportables CSV/Excel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0000" y="5472000"/>
            <a:ext cx="11113200" cy="540000"/>
          </a:xfrm>
          <a:prstGeom prst="roundRect">
            <a:avLst>
              <a:gd name="adj" fmla="val 8000"/>
            </a:avLst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01A48"/>
                </a:solidFill>
              </a:rPr>
              <a:t>Impacto estimado: x120 reducción de tiempo · cobertura +40 % · trazabilidad 100 %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6784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07  · 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Líneas de actuación futura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GeoAssets v1 valida el concepto en España; las siguientes fases expanden la cobertura geográfica, mejoran la precisión y abren la plataforma como API.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2652300" cy="3060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Fase 1
Corto plazo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214000"/>
            <a:ext cx="2652300" cy="4212000"/>
          </a:xfrm>
          <a:prstGeom prst="rect">
            <a:avLst/>
          </a:prstGeom>
          <a:solidFill>
            <a:srgbClr val="F2F2F2"/>
          </a:solidFill>
          <a:ln w="635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Expansión a Portugal y Latinoamérica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Adaptación de fuentes de datos locales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Fine-tuning del clasificador con datos validados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4299" y="1908000"/>
            <a:ext cx="2652300" cy="3060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Fase 2
Medio plazo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4299" y="2214000"/>
            <a:ext cx="2652300" cy="4212000"/>
          </a:xfrm>
          <a:prstGeom prst="rect">
            <a:avLst/>
          </a:prstGeom>
          <a:solidFill>
            <a:srgbClr val="F2F2F2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API pública REST con autenticación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Integración en plataformas de M&amp;A y crédito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Panel de administración multi-empresa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599" y="1908000"/>
            <a:ext cx="2652300" cy="3060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Fase 3
Largo plazo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8599" y="2214000"/>
            <a:ext cx="2652300" cy="4212000"/>
          </a:xfrm>
          <a:prstGeom prst="rect">
            <a:avLst/>
          </a:prstGeom>
          <a:solidFill>
            <a:srgbClr val="F2F2F2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Módulo de detección de cambios (alertas)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Dashboard ESG de exposición de activos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Análisis de series temporales del patrimonio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2900" y="1908000"/>
            <a:ext cx="2652300" cy="306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Mejoras
Continuas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2900" y="2214000"/>
            <a:ext cx="2652300" cy="4212000"/>
          </a:xfrm>
          <a:prstGeom prst="rect">
            <a:avLst/>
          </a:prstGeom>
          <a:solidFill>
            <a:srgbClr val="F2F2F2"/>
          </a:solidFill>
          <a:ln w="635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72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Nuevos modelos LLM al lanzarse (plug-and-play)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Nuevas categorías de activo por sector</a:t>
            </a:r>
          </a:p>
          <a:p>
            <a:pPr algn="l"/>
            <a:r>
              <a:rPr sz="950" b="0" i="0">
                <a:solidFill>
                  <a:srgbClr val="1A1A1A"/>
                </a:solidFill>
              </a:rPr>
              <a:t>Feedback loop de validación humana al modelo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6784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07  · 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Limitaciones actuales y estrategias de mitigación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El sistema es funcional y preciso en su dominio pero presenta limitaciones conocidas con estrategias de mitigación identificadas.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908000"/>
            <a:ext cx="11113200" cy="251999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1943999"/>
            <a:ext cx="109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Dependencia de Google Maps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160000"/>
            <a:ext cx="5448599" cy="814500"/>
          </a:xfrm>
          <a:prstGeom prst="rect">
            <a:avLst/>
          </a:prstGeom>
          <a:solidFill>
            <a:srgbClr val="FBF9F3"/>
          </a:solidFill>
          <a:ln w="63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⚠ Datos incompletos en zonas rurales o países con poca cobertura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8599" y="2160000"/>
            <a:ext cx="5448599" cy="814500"/>
          </a:xfrm>
          <a:prstGeom prst="rect">
            <a:avLst/>
          </a:prstGeom>
          <a:solidFill>
            <a:srgbClr val="F2F2F2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✓ Complementar con Pipeline Agente para empresas sin presencia en Maps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082500"/>
            <a:ext cx="11113200" cy="25199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3118500"/>
            <a:ext cx="109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LLM no determinista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334499"/>
            <a:ext cx="5448599" cy="814500"/>
          </a:xfrm>
          <a:prstGeom prst="rect">
            <a:avLst/>
          </a:prstGeom>
          <a:solidFill>
            <a:srgbClr val="FBF9F3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⚠ Clasificaciones incorrectas de activos ambiguos en el 5–10 % de casos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8599" y="3334499"/>
            <a:ext cx="5448599" cy="814500"/>
          </a:xfrm>
          <a:prstGeom prst="rect">
            <a:avLst/>
          </a:prstGeom>
          <a:solidFill>
            <a:srgbClr val="F2F2F2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✓ Revisar manualmente activos con tier LOW; validación por prompt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257000"/>
            <a:ext cx="11113200" cy="25199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000" y="4293000"/>
            <a:ext cx="109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Latencia del agente 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4508999"/>
            <a:ext cx="5448599" cy="814500"/>
          </a:xfrm>
          <a:prstGeom prst="rect">
            <a:avLst/>
          </a:prstGeom>
          <a:solidFill>
            <a:srgbClr val="FBF9F3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⚠ ~3 minutos de espera puede ser inaceptable en algunos flujos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8599" y="4508999"/>
            <a:ext cx="5448599" cy="814500"/>
          </a:xfrm>
          <a:prstGeom prst="rect">
            <a:avLst/>
          </a:prstGeom>
          <a:solidFill>
            <a:srgbClr val="F2F2F2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✓ Uso asíncrono con notificación al completar; pipeline Maps como alternativa rápida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5431500"/>
            <a:ext cx="11113200" cy="251999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000" y="5467500"/>
            <a:ext cx="109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Cobertura geográfica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5683500"/>
            <a:ext cx="5448599" cy="814500"/>
          </a:xfrm>
          <a:prstGeom prst="rect">
            <a:avLst/>
          </a:prstGeom>
          <a:solidFill>
            <a:srgbClr val="FBF9F3"/>
          </a:solidFill>
          <a:ln w="635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⚠ España únicamente en v1; otras geografías requieren adaptación de prompts y fuentes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78599" y="5683500"/>
            <a:ext cx="5448599" cy="814500"/>
          </a:xfrm>
          <a:prstGeom prst="rect">
            <a:avLst/>
          </a:prstGeom>
          <a:solidFill>
            <a:srgbClr val="F2F2F2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✓ Arquitectura modular permite añadir fuentes por país sin refactoring mayor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6784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07  · 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GeoAssets Intelligence valida que los LLMs, en combinación con APIs geoespaciales y agentes autónomos, pueden automatizar el análisis de patrimonio empresarial.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908000"/>
            <a:ext cx="540000" cy="10935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2000" y="1908000"/>
            <a:ext cx="10501200" cy="1093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016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l"/>
            <a:r>
              <a:rPr sz="1000" b="1" i="0">
                <a:solidFill>
                  <a:srgbClr val="2196F3"/>
                </a:solidFill>
              </a:rPr>
              <a:t>Validación de hipótesis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Los LLMs + APIs geoespaciales permiten automatizar el análisis de activos productivos con alta precisión (Precision@K = 82 %)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3091500"/>
            <a:ext cx="540000" cy="1093500"/>
          </a:xfrm>
          <a:prstGeom prst="roundRect">
            <a:avLst>
              <a:gd name="adj" fmla="val 8000"/>
            </a:avLst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000" y="3091500"/>
            <a:ext cx="10501200" cy="1093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0160">
            <a:solidFill>
              <a:srgbClr val="001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l"/>
            <a:r>
              <a:rPr sz="1000" b="1" i="0">
                <a:solidFill>
                  <a:srgbClr val="001A48"/>
                </a:solidFill>
              </a:rPr>
              <a:t>Contribución técnica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Sistema modular de tres pipelines con scoring unificado basado en distribución Beta, UI interactiva y exportación de resultados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275000"/>
            <a:ext cx="540000" cy="10935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000" y="4275000"/>
            <a:ext cx="10501200" cy="1093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0160">
            <a:solidFill>
              <a:srgbClr val="99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l"/>
            <a:r>
              <a:rPr sz="1000" b="1" i="0">
                <a:solidFill>
                  <a:srgbClr val="997D00"/>
                </a:solidFill>
              </a:rPr>
              <a:t>Contribución metodológica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Framework reproducible y extensible a otros dominios de inteligencia geoespacial empresarial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5458500"/>
            <a:ext cx="540000" cy="10935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52000" y="5458500"/>
            <a:ext cx="10501200" cy="1093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l"/>
            <a:r>
              <a:rPr sz="1000" b="1" i="0">
                <a:solidFill>
                  <a:srgbClr val="4CAF50"/>
                </a:solidFill>
              </a:rPr>
              <a:t>Impacto práctico</a:t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</a:rPr>
              <a:t>Reducción del tiempo de análisis de horas a minutos; aplicable a banca, seguros, consultoría estratégica y ESG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393000"/>
            <a:ext cx="12193200" cy="38095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573000"/>
            <a:ext cx="1219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Gracias por vuestra atención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20000"/>
            <a:ext cx="1075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AB451"/>
                </a:solidFill>
              </a:rPr>
              <a:t>GeoAssets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240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97D00"/>
                </a:solidFill>
              </a:rPr>
              <a:t>Localización automatizada del patrimonio productivo empresarial mediante IA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0" y="3960000"/>
            <a:ext cx="9313200" cy="19047"/>
          </a:xfrm>
          <a:prstGeom prst="rect">
            <a:avLst/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4140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</a:rPr>
              <a:t>Alonso Salgueiro Castelo  ·  alonso.salgueiro.castelo@msspain.com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680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AB451"/>
                </a:solidFill>
              </a:rPr>
              <a:t>"El patrimonio productivo de una empresa es visible.
Solo hay que saber dónde mirar."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93200" y="631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</a:rPr>
              <a:t>Mayo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16000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1116000"/>
          </a:xfrm>
          <a:prstGeom prst="rect">
            <a:avLst/>
          </a:prstGeom>
          <a:solidFill>
            <a:srgbClr val="CAB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000" y="162000"/>
            <a:ext cx="2289600" cy="270000"/>
          </a:xfrm>
          <a:prstGeom prst="roundRect">
            <a:avLst>
              <a:gd name="adj" fmla="val 8000"/>
            </a:avLst>
          </a:prstGeom>
          <a:solidFill>
            <a:srgbClr val="99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SECCIÓN 08  ·  Bibliografía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6000"/>
            <a:ext cx="116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Bibliografía y referencias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6000"/>
            <a:ext cx="12193200" cy="540000"/>
          </a:xfrm>
          <a:prstGeom prst="rect">
            <a:avLst/>
          </a:prstGeom>
          <a:solidFill>
            <a:srgbClr val="FB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00" b="1" i="1">
                <a:solidFill>
                  <a:srgbClr val="002569"/>
                </a:solidFill>
              </a:rPr>
              <a:t>Principales fuentes académicas, técnicas y de documentación oficial utilizadas en el desarrollo del TFM.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19047"/>
          </a:xfrm>
          <a:prstGeom prst="rect">
            <a:avLst/>
          </a:prstGeom>
          <a:solidFill>
            <a:srgbClr val="00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5880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GeoAssets Intelligence  ·  TFM Máster en Inteligencia Artificial  · 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872000"/>
            <a:ext cx="11113200" cy="444600"/>
          </a:xfrm>
          <a:prstGeom prst="rect">
            <a:avLst/>
          </a:prstGeom>
          <a:solidFill>
            <a:srgbClr val="F2F2F2"/>
          </a:solidFill>
          <a:ln w="25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36000"/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[1]  Google Developers. Google Places API documentation. developers.google.com/maps/documentation/places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334600"/>
            <a:ext cx="11113200" cy="444600"/>
          </a:xfrm>
          <a:prstGeom prst="rect">
            <a:avLst/>
          </a:prstGeom>
          <a:solidFill>
            <a:srgbClr val="FFFFFF"/>
          </a:solidFill>
          <a:ln w="25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36000"/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[2]  Amazon Web Services. Amazon Bedrock documentation. docs.aws.amazon.com/bedrock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797200"/>
            <a:ext cx="11113200" cy="444600"/>
          </a:xfrm>
          <a:prstGeom prst="rect">
            <a:avLst/>
          </a:prstGeom>
          <a:solidFill>
            <a:srgbClr val="F2F2F2"/>
          </a:solidFill>
          <a:ln w="25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36000"/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[3]  LiteLLM. Proxy for 100+ LLMs. litellm.vercel.app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3259800"/>
            <a:ext cx="11113200" cy="444600"/>
          </a:xfrm>
          <a:prstGeom prst="rect">
            <a:avLst/>
          </a:prstGeom>
          <a:solidFill>
            <a:srgbClr val="FFFFFF"/>
          </a:solidFill>
          <a:ln w="25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36000"/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[4]  CrewAI. Multi-agent AI framework. crewai.com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722400"/>
            <a:ext cx="11113200" cy="444600"/>
          </a:xfrm>
          <a:prstGeom prst="rect">
            <a:avLst/>
          </a:prstGeom>
          <a:solidFill>
            <a:srgbClr val="F2F2F2"/>
          </a:solidFill>
          <a:ln w="25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36000"/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[5]  Brown, T. et al. (2020). Language Models are Few-Shot Learners. NeurIPS 2020.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4185000"/>
            <a:ext cx="11113200" cy="444600"/>
          </a:xfrm>
          <a:prstGeom prst="rect">
            <a:avLst/>
          </a:prstGeom>
          <a:solidFill>
            <a:srgbClr val="FFFFFF"/>
          </a:solidFill>
          <a:ln w="25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36000"/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[6]  Reynolds, L. &amp; McDonell, K. (2021). Prompt Programming for Large Language Models. CHI EA 2021.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647600"/>
            <a:ext cx="11113200" cy="444600"/>
          </a:xfrm>
          <a:prstGeom prst="rect">
            <a:avLst/>
          </a:prstGeom>
          <a:solidFill>
            <a:srgbClr val="F2F2F2"/>
          </a:solidFill>
          <a:ln w="25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36000"/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[7]  Gelman, A. &amp; Hill, J. (2006). Data Analysis Using Regression and Multilevel/Hierarchical Models. CUP.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5110200"/>
            <a:ext cx="11113200" cy="444600"/>
          </a:xfrm>
          <a:prstGeom prst="rect">
            <a:avLst/>
          </a:prstGeom>
          <a:solidFill>
            <a:srgbClr val="FFFFFF"/>
          </a:solidFill>
          <a:ln w="25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36000"/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[8]  Vue.js. The Progressive JavaScript Framework. vuejs.org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5572800"/>
            <a:ext cx="11113200" cy="444600"/>
          </a:xfrm>
          <a:prstGeom prst="rect">
            <a:avLst/>
          </a:prstGeom>
          <a:solidFill>
            <a:srgbClr val="F2F2F2"/>
          </a:solidFill>
          <a:ln w="25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36000"/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[9]  FastAPI. Modern, fast web framework for building APIs with Python. fastapi.tiangolo.com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6035400"/>
            <a:ext cx="11113200" cy="444600"/>
          </a:xfrm>
          <a:prstGeom prst="rect">
            <a:avLst/>
          </a:prstGeom>
          <a:solidFill>
            <a:srgbClr val="FFFFFF"/>
          </a:solidFill>
          <a:ln w="25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36000"/>
          <a:lstStyle/>
          <a:p>
            <a:pPr algn="l"/>
            <a:r>
              <a:rPr sz="950" b="0" i="0">
                <a:solidFill>
                  <a:srgbClr val="002569"/>
                </a:solidFill>
              </a:rPr>
              <a:t>[10] python-pptx. Python library for creating and updating PowerPoint files. python-pptx.readthedocs.io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